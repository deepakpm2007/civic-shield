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" roundtripDataSignature="AMtx7mgvu6NYzvMqSxNf//PQ8iBR3UkM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9253" y="295200"/>
            <a:ext cx="1405647" cy="65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1600" y="234325"/>
            <a:ext cx="1083399" cy="77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99102" y="295200"/>
            <a:ext cx="1846047" cy="65467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 txBox="1"/>
          <p:nvPr/>
        </p:nvSpPr>
        <p:spPr>
          <a:xfrm>
            <a:off x="428625" y="3009900"/>
            <a:ext cx="8305800" cy="156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Details</a:t>
            </a:r>
            <a:endParaRPr sz="15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name: Logic Makers</a:t>
            </a:r>
            <a:endParaRPr sz="15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leader name: Deepak P M</a:t>
            </a:r>
            <a:endParaRPr sz="15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size: 4</a:t>
            </a:r>
            <a:endParaRPr sz="15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1" descr="DeepSprint 202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874250" y="1466275"/>
            <a:ext cx="3395500" cy="131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9253" y="295200"/>
            <a:ext cx="1405647" cy="65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1600" y="234325"/>
            <a:ext cx="1083399" cy="77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99102" y="295200"/>
            <a:ext cx="1846047" cy="65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 0">
            <a:extLst>
              <a:ext uri="{FF2B5EF4-FFF2-40B4-BE49-F238E27FC236}">
                <a16:creationId xmlns:a16="http://schemas.microsoft.com/office/drawing/2014/main" id="{16ADA88E-A167-A463-5418-63764EA38A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6560" y="2571750"/>
            <a:ext cx="3627883" cy="994223"/>
          </a:xfrm>
          <a:prstGeom prst="rect">
            <a:avLst/>
          </a:prstGeom>
        </p:spPr>
      </p:pic>
      <p:sp>
        <p:nvSpPr>
          <p:cNvPr id="3" name="TextBox 8">
            <a:extLst>
              <a:ext uri="{FF2B5EF4-FFF2-40B4-BE49-F238E27FC236}">
                <a16:creationId xmlns:a16="http://schemas.microsoft.com/office/drawing/2014/main" id="{5A1682F0-BE94-7990-FC83-257AE3B95A6B}"/>
              </a:ext>
            </a:extLst>
          </p:cNvPr>
          <p:cNvSpPr txBox="1"/>
          <p:nvPr/>
        </p:nvSpPr>
        <p:spPr>
          <a:xfrm>
            <a:off x="372359" y="2593716"/>
            <a:ext cx="503062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1" i="0" u="none" dirty="0">
                <a:solidFill>
                  <a:schemeClr val="accent1"/>
                </a:solidFill>
                <a:latin typeface="Inter SemiBold"/>
              </a:rPr>
              <a:t>The Problem</a:t>
            </a: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37F70D84-7E3B-8886-9857-923FE840528A}"/>
              </a:ext>
            </a:extLst>
          </p:cNvPr>
          <p:cNvSpPr txBox="1"/>
          <p:nvPr/>
        </p:nvSpPr>
        <p:spPr>
          <a:xfrm>
            <a:off x="501585" y="2827309"/>
            <a:ext cx="320895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200" b="0" i="0" u="none" dirty="0">
                <a:latin typeface="Inter"/>
              </a:rPr>
              <a:t>When critical machinery fails, engineers waste hours searching through siloed, 1,000+ page OEM manuals and scattered maintenance logs to find the root cause.</a:t>
            </a:r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5DF09A49-80B7-95EC-9FA4-2D8437D1CB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6560" y="3737688"/>
            <a:ext cx="3627882" cy="914901"/>
          </a:xfrm>
          <a:prstGeom prst="rect">
            <a:avLst/>
          </a:prstGeom>
        </p:spPr>
      </p:pic>
      <p:sp>
        <p:nvSpPr>
          <p:cNvPr id="6" name="TextBox 11">
            <a:extLst>
              <a:ext uri="{FF2B5EF4-FFF2-40B4-BE49-F238E27FC236}">
                <a16:creationId xmlns:a16="http://schemas.microsoft.com/office/drawing/2014/main" id="{4B656CA9-11BF-039E-4C2D-755C2DCB79AE}"/>
              </a:ext>
            </a:extLst>
          </p:cNvPr>
          <p:cNvSpPr txBox="1"/>
          <p:nvPr/>
        </p:nvSpPr>
        <p:spPr>
          <a:xfrm>
            <a:off x="382898" y="3737688"/>
            <a:ext cx="449173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1" i="0" u="none" dirty="0">
                <a:solidFill>
                  <a:schemeClr val="accent1"/>
                </a:solidFill>
                <a:latin typeface="Inter SemiBold"/>
              </a:rPr>
              <a:t>Who Feels the Pain</a:t>
            </a:r>
          </a:p>
        </p:txBody>
      </p:sp>
      <p:sp>
        <p:nvSpPr>
          <p:cNvPr id="7" name="TextBox 12">
            <a:extLst>
              <a:ext uri="{FF2B5EF4-FFF2-40B4-BE49-F238E27FC236}">
                <a16:creationId xmlns:a16="http://schemas.microsoft.com/office/drawing/2014/main" id="{9AF4627C-1694-F02A-4C60-14B86A5E68F9}"/>
              </a:ext>
            </a:extLst>
          </p:cNvPr>
          <p:cNvSpPr txBox="1"/>
          <p:nvPr/>
        </p:nvSpPr>
        <p:spPr>
          <a:xfrm>
            <a:off x="501585" y="3953905"/>
            <a:ext cx="329558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0" i="0" u="none" dirty="0">
                <a:latin typeface="Inter"/>
              </a:rPr>
              <a:t>Maintenance Engineers, Plant Managers, and Reliability Teams working in manufacturing, oil &amp; gas, and heavy industry sectors.</a:t>
            </a:r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C02B69C2-FA74-5C32-EA42-59BAD601C2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26866" y="1132612"/>
            <a:ext cx="4180335" cy="1837739"/>
          </a:xfrm>
          <a:prstGeom prst="rect">
            <a:avLst/>
          </a:prstGeom>
        </p:spPr>
      </p:pic>
      <p:pic>
        <p:nvPicPr>
          <p:cNvPr id="13" name="Image 0">
            <a:extLst>
              <a:ext uri="{FF2B5EF4-FFF2-40B4-BE49-F238E27FC236}">
                <a16:creationId xmlns:a16="http://schemas.microsoft.com/office/drawing/2014/main" id="{6CFE96FA-DFD1-4767-0705-7F8EFE0EF5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93245" y="2563480"/>
            <a:ext cx="4117478" cy="994223"/>
          </a:xfrm>
          <a:prstGeom prst="rect">
            <a:avLst/>
          </a:prstGeom>
        </p:spPr>
      </p:pic>
      <p:sp>
        <p:nvSpPr>
          <p:cNvPr id="14" name="TextBox 14">
            <a:extLst>
              <a:ext uri="{FF2B5EF4-FFF2-40B4-BE49-F238E27FC236}">
                <a16:creationId xmlns:a16="http://schemas.microsoft.com/office/drawing/2014/main" id="{90226516-E6BE-8806-09E1-BD732F11A603}"/>
              </a:ext>
            </a:extLst>
          </p:cNvPr>
          <p:cNvSpPr txBox="1"/>
          <p:nvPr/>
        </p:nvSpPr>
        <p:spPr>
          <a:xfrm>
            <a:off x="4487179" y="2613743"/>
            <a:ext cx="503062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1" i="0" u="none" dirty="0">
                <a:solidFill>
                  <a:schemeClr val="accent1"/>
                </a:solidFill>
                <a:latin typeface="Inter SemiBold"/>
              </a:rPr>
              <a:t>Current Flaws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EDD5B712-968B-DBEF-6522-31B7FC87AE87}"/>
              </a:ext>
            </a:extLst>
          </p:cNvPr>
          <p:cNvSpPr txBox="1"/>
          <p:nvPr/>
        </p:nvSpPr>
        <p:spPr>
          <a:xfrm>
            <a:off x="4635486" y="2909457"/>
            <a:ext cx="3819414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0" i="0" u="none" dirty="0">
                <a:latin typeface="Inter"/>
              </a:rPr>
              <a:t>Relying on manual searches through unindexed PDFs, disconnected CMMS software, and the "tribal knowledge" of retiring veteran engineers.</a:t>
            </a:r>
          </a:p>
        </p:txBody>
      </p:sp>
      <p:pic>
        <p:nvPicPr>
          <p:cNvPr id="17" name="Image 0">
            <a:extLst>
              <a:ext uri="{FF2B5EF4-FFF2-40B4-BE49-F238E27FC236}">
                <a16:creationId xmlns:a16="http://schemas.microsoft.com/office/drawing/2014/main" id="{7CA9898F-E63B-9DAE-490B-27932925AA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93245" y="3652721"/>
            <a:ext cx="4117478" cy="99422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619E531-42EB-91FB-F11B-FFAB46A21FA9}"/>
              </a:ext>
            </a:extLst>
          </p:cNvPr>
          <p:cNvSpPr txBox="1"/>
          <p:nvPr/>
        </p:nvSpPr>
        <p:spPr>
          <a:xfrm>
            <a:off x="4533939" y="3707684"/>
            <a:ext cx="503062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1" i="0" u="none" dirty="0">
                <a:solidFill>
                  <a:schemeClr val="accent1"/>
                </a:solidFill>
                <a:latin typeface="Inter SemiBold"/>
              </a:rPr>
              <a:t>The Business Impact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4ED7A0-9F06-321C-452A-4B11474272AF}"/>
              </a:ext>
            </a:extLst>
          </p:cNvPr>
          <p:cNvSpPr txBox="1"/>
          <p:nvPr/>
        </p:nvSpPr>
        <p:spPr>
          <a:xfrm>
            <a:off x="4653716" y="3953905"/>
            <a:ext cx="3857008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0" i="0" u="none" dirty="0">
                <a:latin typeface="Inter"/>
              </a:rPr>
              <a:t>Unplanned downtime costs manufacturers tens of thousands of dollars per hour. Rapid troubleshooting is critical to preventing massive revenue loss.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9253" y="295200"/>
            <a:ext cx="1405647" cy="65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1600" y="234325"/>
            <a:ext cx="1083399" cy="77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99102" y="295200"/>
            <a:ext cx="1846047" cy="6546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4">
            <a:extLst>
              <a:ext uri="{FF2B5EF4-FFF2-40B4-BE49-F238E27FC236}">
                <a16:creationId xmlns:a16="http://schemas.microsoft.com/office/drawing/2014/main" id="{B72010C3-674E-5B43-4492-5AE9F91FF209}"/>
              </a:ext>
            </a:extLst>
          </p:cNvPr>
          <p:cNvSpPr txBox="1"/>
          <p:nvPr/>
        </p:nvSpPr>
        <p:spPr>
          <a:xfrm>
            <a:off x="614121" y="1448029"/>
            <a:ext cx="5550693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b="1" i="0" u="none" dirty="0">
                <a:solidFill>
                  <a:srgbClr val="06B6D4"/>
                </a:solidFill>
                <a:latin typeface="Inter SemiBold"/>
              </a:rPr>
              <a:t>Centralized AI Intelligence Core</a:t>
            </a: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E8DF47FC-28A6-E274-334E-617A64F1BA10}"/>
              </a:ext>
            </a:extLst>
          </p:cNvPr>
          <p:cNvSpPr txBox="1"/>
          <p:nvPr/>
        </p:nvSpPr>
        <p:spPr>
          <a:xfrm>
            <a:off x="614122" y="1914754"/>
            <a:ext cx="4391016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0" i="0" u="none" dirty="0">
                <a:latin typeface="Inter"/>
              </a:rPr>
              <a:t>Industrial Brain utilizes local, on-premise Retrieval-Augmented Generation (RAG). It ingests unstructured PDFs and maintenance logs into a searchable vector database, allowing engineers to "chat" with equipment data naturally.</a:t>
            </a: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7905096A-F7AF-79AD-9BD4-D2D7EE176FF0}"/>
              </a:ext>
            </a:extLst>
          </p:cNvPr>
          <p:cNvSpPr txBox="1"/>
          <p:nvPr/>
        </p:nvSpPr>
        <p:spPr>
          <a:xfrm>
            <a:off x="614122" y="2843144"/>
            <a:ext cx="422201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b="1" i="0" u="none" dirty="0">
                <a:solidFill>
                  <a:srgbClr val="06B6D4"/>
                </a:solidFill>
                <a:latin typeface="Inter SemiBold"/>
              </a:rPr>
              <a:t>Automated Root Cause Analysis (RCA)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AA3849C0-42C8-86DB-E6F4-CC9C42D88487}"/>
              </a:ext>
            </a:extLst>
          </p:cNvPr>
          <p:cNvSpPr txBox="1"/>
          <p:nvPr/>
        </p:nvSpPr>
        <p:spPr>
          <a:xfrm>
            <a:off x="614122" y="3309869"/>
            <a:ext cx="4222014" cy="1038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50" b="0" i="0" u="none" dirty="0">
                <a:latin typeface="Inter"/>
              </a:rPr>
              <a:t>During anomalies, the system fetches exact historical citations from manuals and auto-generates RCA reports. Running on local hardware (e.g., AMD Radeon GPUs) guarantees 100% data privacy and protects trade secrets from public cloud AIs.</a:t>
            </a:r>
          </a:p>
        </p:txBody>
      </p:sp>
      <p:pic>
        <p:nvPicPr>
          <p:cNvPr id="6" name="Image 0">
            <a:extLst>
              <a:ext uri="{FF2B5EF4-FFF2-40B4-BE49-F238E27FC236}">
                <a16:creationId xmlns:a16="http://schemas.microsoft.com/office/drawing/2014/main" id="{2E6C56C8-11E2-A51E-1C4A-3307CFB769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5138" y="1796558"/>
            <a:ext cx="3693742" cy="20931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9253" y="295200"/>
            <a:ext cx="1405647" cy="65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1600" y="234325"/>
            <a:ext cx="1083399" cy="77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99102" y="295200"/>
            <a:ext cx="1846047" cy="6546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5">
            <a:extLst>
              <a:ext uri="{FF2B5EF4-FFF2-40B4-BE49-F238E27FC236}">
                <a16:creationId xmlns:a16="http://schemas.microsoft.com/office/drawing/2014/main" id="{B44B9E91-A98A-9FCA-BB43-946F57836C8F}"/>
              </a:ext>
            </a:extLst>
          </p:cNvPr>
          <p:cNvSpPr txBox="1"/>
          <p:nvPr/>
        </p:nvSpPr>
        <p:spPr>
          <a:xfrm>
            <a:off x="3701654" y="1283152"/>
            <a:ext cx="5550693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b="1" i="0" u="none" dirty="0">
                <a:solidFill>
                  <a:srgbClr val="06B6D4"/>
                </a:solidFill>
                <a:latin typeface="Inter SemiBold"/>
              </a:rPr>
              <a:t>Ideal Customer Profile</a:t>
            </a: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11F58241-7633-AAB8-F55B-D767DAC86A26}"/>
              </a:ext>
            </a:extLst>
          </p:cNvPr>
          <p:cNvSpPr txBox="1"/>
          <p:nvPr/>
        </p:nvSpPr>
        <p:spPr>
          <a:xfrm>
            <a:off x="3701654" y="1749877"/>
            <a:ext cx="528637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0" i="0" u="none" dirty="0">
                <a:latin typeface="Inter"/>
              </a:rPr>
              <a:t>Our core customers encompass high-stakes, capital-intensive environments where equipment reliability directly correlates with revenue:</a:t>
            </a: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F21871D5-20BD-368A-2E0B-34CB73049B47}"/>
              </a:ext>
            </a:extLst>
          </p:cNvPr>
          <p:cNvSpPr txBox="1"/>
          <p:nvPr/>
        </p:nvSpPr>
        <p:spPr>
          <a:xfrm>
            <a:off x="3701654" y="4393809"/>
            <a:ext cx="52863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160"/>
              </a:lnSpc>
            </a:pPr>
            <a:r>
              <a:rPr sz="1200" b="0" i="0" u="none" dirty="0">
                <a:latin typeface="Inter"/>
              </a:rPr>
              <a:t>The market is growing rapidly as Industry 4.0 and predictive maintenance adoption accelerates.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41A4C440-0310-B322-1C5F-A1D29A5A49A8}"/>
              </a:ext>
            </a:extLst>
          </p:cNvPr>
          <p:cNvSpPr txBox="1"/>
          <p:nvPr/>
        </p:nvSpPr>
        <p:spPr>
          <a:xfrm>
            <a:off x="3939779" y="2763248"/>
            <a:ext cx="5048250" cy="257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160"/>
              </a:lnSpc>
            </a:pPr>
            <a:r>
              <a:rPr sz="1200" b="0" i="0" u="none" dirty="0">
                <a:latin typeface="Inter"/>
              </a:rPr>
              <a:t>Heavy Manufacturing Plants</a:t>
            </a: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AA55A3B3-90FC-F37A-1926-8CC785AC45E8}"/>
              </a:ext>
            </a:extLst>
          </p:cNvPr>
          <p:cNvSpPr txBox="1"/>
          <p:nvPr/>
        </p:nvSpPr>
        <p:spPr>
          <a:xfrm>
            <a:off x="3939779" y="3151838"/>
            <a:ext cx="5048250" cy="257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160"/>
              </a:lnSpc>
            </a:pPr>
            <a:r>
              <a:rPr sz="1200" b="0" i="0" u="none" dirty="0">
                <a:latin typeface="Inter"/>
              </a:rPr>
              <a:t>Energy Sector Facilities (Oil &amp; Gas)</a:t>
            </a: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7CF44DEE-3C8F-803E-2AC7-B1CC47CC12AB}"/>
              </a:ext>
            </a:extLst>
          </p:cNvPr>
          <p:cNvSpPr txBox="1"/>
          <p:nvPr/>
        </p:nvSpPr>
        <p:spPr>
          <a:xfrm>
            <a:off x="3939779" y="3540428"/>
            <a:ext cx="5048250" cy="257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160"/>
              </a:lnSpc>
            </a:pPr>
            <a:r>
              <a:rPr sz="1200" b="0" i="0" u="none" dirty="0">
                <a:latin typeface="Inter"/>
              </a:rPr>
              <a:t>Automotive Assembly Lines</a:t>
            </a: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1B92A74D-0F5C-0BDF-846D-77B8C172BD74}"/>
              </a:ext>
            </a:extLst>
          </p:cNvPr>
          <p:cNvSpPr txBox="1"/>
          <p:nvPr/>
        </p:nvSpPr>
        <p:spPr>
          <a:xfrm>
            <a:off x="3939779" y="3929018"/>
            <a:ext cx="5048250" cy="257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160"/>
              </a:lnSpc>
            </a:pPr>
            <a:r>
              <a:rPr sz="1200" b="0" i="0" u="none" dirty="0">
                <a:latin typeface="Inter"/>
              </a:rPr>
              <a:t>Industrial Maintenance Contracting Firms</a:t>
            </a: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DC104079-8D58-A6D6-4764-AFB5DD7E43CE}"/>
              </a:ext>
            </a:extLst>
          </p:cNvPr>
          <p:cNvSpPr txBox="1"/>
          <p:nvPr/>
        </p:nvSpPr>
        <p:spPr>
          <a:xfrm>
            <a:off x="3701654" y="2763248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F361687F-2BE9-23D2-CAE9-9A4A66E471B7}"/>
              </a:ext>
            </a:extLst>
          </p:cNvPr>
          <p:cNvSpPr txBox="1"/>
          <p:nvPr/>
        </p:nvSpPr>
        <p:spPr>
          <a:xfrm>
            <a:off x="3701654" y="3151838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11" name="TextBox 14">
            <a:extLst>
              <a:ext uri="{FF2B5EF4-FFF2-40B4-BE49-F238E27FC236}">
                <a16:creationId xmlns:a16="http://schemas.microsoft.com/office/drawing/2014/main" id="{1A7022B9-A0EC-B68A-F72C-F6163C648369}"/>
              </a:ext>
            </a:extLst>
          </p:cNvPr>
          <p:cNvSpPr txBox="1"/>
          <p:nvPr/>
        </p:nvSpPr>
        <p:spPr>
          <a:xfrm>
            <a:off x="3701654" y="3540428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7A969F1D-35AF-DA63-616F-0F819877EED1}"/>
              </a:ext>
            </a:extLst>
          </p:cNvPr>
          <p:cNvSpPr txBox="1"/>
          <p:nvPr/>
        </p:nvSpPr>
        <p:spPr>
          <a:xfrm>
            <a:off x="3701654" y="3929018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1D5CDA6-7331-270A-ED4A-95DED16455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971" y="1415044"/>
            <a:ext cx="3369549" cy="29911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9253" y="295200"/>
            <a:ext cx="1405647" cy="65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1600" y="234325"/>
            <a:ext cx="1083399" cy="77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99102" y="295200"/>
            <a:ext cx="1846047" cy="6546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5">
            <a:extLst>
              <a:ext uri="{FF2B5EF4-FFF2-40B4-BE49-F238E27FC236}">
                <a16:creationId xmlns:a16="http://schemas.microsoft.com/office/drawing/2014/main" id="{F1E0E6E0-6D26-5799-12D5-58A06EF70E73}"/>
              </a:ext>
            </a:extLst>
          </p:cNvPr>
          <p:cNvSpPr txBox="1"/>
          <p:nvPr/>
        </p:nvSpPr>
        <p:spPr>
          <a:xfrm>
            <a:off x="364552" y="1238479"/>
            <a:ext cx="478059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b="1" i="0" u="none" dirty="0">
                <a:solidFill>
                  <a:srgbClr val="06B6D4"/>
                </a:solidFill>
                <a:latin typeface="Inter SemiBold"/>
              </a:rPr>
              <a:t>Revenue Model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AAEBC7BF-3CF0-F5CD-6FC4-34B2B3D12147}"/>
              </a:ext>
            </a:extLst>
          </p:cNvPr>
          <p:cNvSpPr txBox="1"/>
          <p:nvPr/>
        </p:nvSpPr>
        <p:spPr>
          <a:xfrm>
            <a:off x="478375" y="1586040"/>
            <a:ext cx="455295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0" i="0" u="none" dirty="0">
                <a:latin typeface="Inter"/>
              </a:rPr>
              <a:t>We operate on a robust B2B Enterprise SaaS (Software as a Service) subscription model.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7F6E3545-37FB-EADA-0B68-5A27D2E0E17A}"/>
              </a:ext>
            </a:extLst>
          </p:cNvPr>
          <p:cNvSpPr txBox="1"/>
          <p:nvPr/>
        </p:nvSpPr>
        <p:spPr>
          <a:xfrm>
            <a:off x="478375" y="2029771"/>
            <a:ext cx="455295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0" i="0" u="none" dirty="0">
                <a:latin typeface="Inter"/>
              </a:rPr>
              <a:t>Pricing is tiered intelligently based on two primary factors:</a:t>
            </a:r>
          </a:p>
        </p:txBody>
      </p:sp>
      <p:sp>
        <p:nvSpPr>
          <p:cNvPr id="5" name="TextBox 15">
            <a:extLst>
              <a:ext uri="{FF2B5EF4-FFF2-40B4-BE49-F238E27FC236}">
                <a16:creationId xmlns:a16="http://schemas.microsoft.com/office/drawing/2014/main" id="{6AD67378-FD83-12DF-D3F0-D381BF098170}"/>
              </a:ext>
            </a:extLst>
          </p:cNvPr>
          <p:cNvSpPr txBox="1"/>
          <p:nvPr/>
        </p:nvSpPr>
        <p:spPr>
          <a:xfrm>
            <a:off x="713167" y="2387084"/>
            <a:ext cx="421957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00" b="0" i="0" u="none" dirty="0">
                <a:latin typeface="Inter"/>
              </a:rPr>
              <a:t>The total number of indexed mechanical assets.</a:t>
            </a:r>
          </a:p>
        </p:txBody>
      </p:sp>
      <p:sp>
        <p:nvSpPr>
          <p:cNvPr id="6" name="TextBox 16">
            <a:extLst>
              <a:ext uri="{FF2B5EF4-FFF2-40B4-BE49-F238E27FC236}">
                <a16:creationId xmlns:a16="http://schemas.microsoft.com/office/drawing/2014/main" id="{D2EDF559-C064-0FE6-C05C-B9EDC6C13993}"/>
              </a:ext>
            </a:extLst>
          </p:cNvPr>
          <p:cNvSpPr txBox="1"/>
          <p:nvPr/>
        </p:nvSpPr>
        <p:spPr>
          <a:xfrm>
            <a:off x="713167" y="2692104"/>
            <a:ext cx="421957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00" b="0" i="0" u="none" dirty="0">
                <a:latin typeface="Inter"/>
              </a:rPr>
              <a:t>The volume of active engineering user seats.</a:t>
            </a:r>
          </a:p>
        </p:txBody>
      </p:sp>
      <p:sp>
        <p:nvSpPr>
          <p:cNvPr id="7" name="TextBox 17">
            <a:extLst>
              <a:ext uri="{FF2B5EF4-FFF2-40B4-BE49-F238E27FC236}">
                <a16:creationId xmlns:a16="http://schemas.microsoft.com/office/drawing/2014/main" id="{FBE35BC2-9951-A844-806F-3BA5EA0691B5}"/>
              </a:ext>
            </a:extLst>
          </p:cNvPr>
          <p:cNvSpPr txBox="1"/>
          <p:nvPr/>
        </p:nvSpPr>
        <p:spPr>
          <a:xfrm>
            <a:off x="713167" y="3003463"/>
            <a:ext cx="4872293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00" b="0" i="0" u="none" dirty="0">
                <a:latin typeface="Inter"/>
              </a:rPr>
              <a:t>Includes a one-time on-premise installation and integration fee.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590D76E1-DA43-28D1-14E3-9712913D7B4D}"/>
              </a:ext>
            </a:extLst>
          </p:cNvPr>
          <p:cNvSpPr txBox="1"/>
          <p:nvPr/>
        </p:nvSpPr>
        <p:spPr>
          <a:xfrm>
            <a:off x="5145149" y="1154701"/>
            <a:ext cx="478059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b="1" i="0" u="none" dirty="0">
                <a:solidFill>
                  <a:srgbClr val="06B6D4"/>
                </a:solidFill>
                <a:latin typeface="Inter SemiBold"/>
              </a:rPr>
              <a:t>Pricing Structure</a:t>
            </a: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2F798F6B-568C-4441-BC5B-3633148D000B}"/>
              </a:ext>
            </a:extLst>
          </p:cNvPr>
          <p:cNvSpPr txBox="1"/>
          <p:nvPr/>
        </p:nvSpPr>
        <p:spPr>
          <a:xfrm>
            <a:off x="5240913" y="1404998"/>
            <a:ext cx="3616679" cy="281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400"/>
              </a:lnSpc>
            </a:pPr>
            <a:r>
              <a:rPr sz="1500" b="0" i="0" u="none" dirty="0">
                <a:latin typeface="Inter SemiBold"/>
              </a:rPr>
              <a:t>Standard Mid-Sized Plant License</a:t>
            </a:r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8DA3C0E1-C72D-ADEE-161A-27A36BF18368}"/>
              </a:ext>
            </a:extLst>
          </p:cNvPr>
          <p:cNvSpPr txBox="1"/>
          <p:nvPr/>
        </p:nvSpPr>
        <p:spPr>
          <a:xfrm>
            <a:off x="5348165" y="1786433"/>
            <a:ext cx="3616679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160"/>
              </a:lnSpc>
            </a:pPr>
            <a:r>
              <a:rPr sz="1350" b="0" i="0" u="none" dirty="0">
                <a:latin typeface="Inter"/>
              </a:rPr>
              <a:t>This tier covers the indexing and active analysis of up to 500 individual industrial assets.</a:t>
            </a:r>
          </a:p>
        </p:txBody>
      </p:sp>
      <p:sp>
        <p:nvSpPr>
          <p:cNvPr id="11" name="TextBox 14">
            <a:extLst>
              <a:ext uri="{FF2B5EF4-FFF2-40B4-BE49-F238E27FC236}">
                <a16:creationId xmlns:a16="http://schemas.microsoft.com/office/drawing/2014/main" id="{14933D0D-8B85-81B3-6D0C-5F6250C925B4}"/>
              </a:ext>
            </a:extLst>
          </p:cNvPr>
          <p:cNvSpPr txBox="1"/>
          <p:nvPr/>
        </p:nvSpPr>
        <p:spPr>
          <a:xfrm>
            <a:off x="5348165" y="2620764"/>
            <a:ext cx="3616679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160"/>
              </a:lnSpc>
            </a:pPr>
            <a:r>
              <a:rPr sz="1350" b="0" i="0" u="none" dirty="0">
                <a:latin typeface="Inter"/>
              </a:rPr>
              <a:t>We also offer custom enterprise pricing structures negotiated for multi-site global rollouts.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B598D3A-593B-AB02-3DE3-C1DF091881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4999" y="3308483"/>
            <a:ext cx="3161897" cy="17260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9253" y="295200"/>
            <a:ext cx="1405647" cy="65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1600" y="234325"/>
            <a:ext cx="1083399" cy="77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99102" y="295200"/>
            <a:ext cx="1846047" cy="6546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5">
            <a:extLst>
              <a:ext uri="{FF2B5EF4-FFF2-40B4-BE49-F238E27FC236}">
                <a16:creationId xmlns:a16="http://schemas.microsoft.com/office/drawing/2014/main" id="{266A2976-13B4-D81D-B348-EB14E54945E2}"/>
              </a:ext>
            </a:extLst>
          </p:cNvPr>
          <p:cNvSpPr txBox="1"/>
          <p:nvPr/>
        </p:nvSpPr>
        <p:spPr>
          <a:xfrm>
            <a:off x="212738" y="1646599"/>
            <a:ext cx="2248716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100" b="0" i="0" u="none" dirty="0">
                <a:solidFill>
                  <a:srgbClr val="06B6D4"/>
                </a:solidFill>
                <a:latin typeface="Inter SemiBold"/>
              </a:rPr>
              <a:t>Prototype Ready</a:t>
            </a: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7F4FBB8C-5FC0-A40C-72B0-B8FB2FA695F0}"/>
              </a:ext>
            </a:extLst>
          </p:cNvPr>
          <p:cNvSpPr txBox="1"/>
          <p:nvPr/>
        </p:nvSpPr>
        <p:spPr>
          <a:xfrm>
            <a:off x="431893" y="2049143"/>
            <a:ext cx="32004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200" b="0" i="0" u="none" dirty="0">
                <a:latin typeface="Inter"/>
              </a:rPr>
              <a:t>We have successfully built a fully functional web application prototype.</a:t>
            </a: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CAF7EDE6-9371-F223-5710-0CCB7E2857CB}"/>
              </a:ext>
            </a:extLst>
          </p:cNvPr>
          <p:cNvSpPr txBox="1"/>
          <p:nvPr/>
        </p:nvSpPr>
        <p:spPr>
          <a:xfrm>
            <a:off x="431893" y="2515719"/>
            <a:ext cx="3710939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200" b="0" i="0" u="none" dirty="0">
                <a:latin typeface="Inter"/>
              </a:rPr>
              <a:t>The architecture features a responsive React UI, a high-performance </a:t>
            </a:r>
            <a:r>
              <a:rPr sz="1200" b="0" i="0" u="none" dirty="0" err="1">
                <a:latin typeface="Inter"/>
              </a:rPr>
              <a:t>FastAPI</a:t>
            </a:r>
            <a:r>
              <a:rPr sz="1200" b="0" i="0" u="none" dirty="0">
                <a:latin typeface="Inter"/>
              </a:rPr>
              <a:t> backend, and seamless integration with localized LLM processing units.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3A775EB8-B67C-474B-D09A-D3C21BCE16EB}"/>
              </a:ext>
            </a:extLst>
          </p:cNvPr>
          <p:cNvSpPr txBox="1"/>
          <p:nvPr/>
        </p:nvSpPr>
        <p:spPr>
          <a:xfrm>
            <a:off x="212738" y="3749991"/>
            <a:ext cx="2529806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100" b="0" i="0" u="none" dirty="0">
                <a:solidFill>
                  <a:srgbClr val="06B6D4"/>
                </a:solidFill>
                <a:latin typeface="Inter SemiBold"/>
              </a:rPr>
              <a:t>TRL 6 Certification</a:t>
            </a: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6D422086-30A6-C467-AD77-A4EABE89F839}"/>
              </a:ext>
            </a:extLst>
          </p:cNvPr>
          <p:cNvSpPr txBox="1"/>
          <p:nvPr/>
        </p:nvSpPr>
        <p:spPr>
          <a:xfrm>
            <a:off x="528146" y="4105684"/>
            <a:ext cx="255275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200" i="0" u="none" dirty="0">
                <a:latin typeface="Inter"/>
              </a:rPr>
              <a:t>Technology Readiness Level 6</a:t>
            </a: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5BB4BD51-9187-C29F-E988-E48EA9867D27}"/>
              </a:ext>
            </a:extLst>
          </p:cNvPr>
          <p:cNvSpPr txBox="1"/>
          <p:nvPr/>
        </p:nvSpPr>
        <p:spPr>
          <a:xfrm>
            <a:off x="528146" y="4290350"/>
            <a:ext cx="3569069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200" b="0" i="0" u="none" dirty="0">
                <a:latin typeface="Inter"/>
              </a:rPr>
              <a:t>Our system has moved beyond theoretical modeling. We possess a system/subsystem prototype successfully demonstrated within a highly relevant industrial environment.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ED4F1F-C545-ECA1-2841-DA3A48F7AA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743" y="1137085"/>
            <a:ext cx="401556" cy="457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B64B4EA-CEAB-E103-26E3-F08DAAE9BC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893" y="3206621"/>
            <a:ext cx="458922" cy="457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13DA29E-233A-EA45-3A85-182BF95EBB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97215" y="1594285"/>
            <a:ext cx="4938496" cy="28573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9253" y="295200"/>
            <a:ext cx="1405647" cy="65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1600" y="234325"/>
            <a:ext cx="1083399" cy="77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99102" y="295200"/>
            <a:ext cx="1846047" cy="6546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546B51-6942-23D4-D74E-8CEE8E57C12F}"/>
              </a:ext>
            </a:extLst>
          </p:cNvPr>
          <p:cNvSpPr txBox="1"/>
          <p:nvPr/>
        </p:nvSpPr>
        <p:spPr>
          <a:xfrm>
            <a:off x="508635" y="1350809"/>
            <a:ext cx="52006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3000" b="0" i="0" u="none" dirty="0">
                <a:latin typeface="Inter SemiBold"/>
              </a:rPr>
              <a:t>Intellectual Property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30623A5-302F-152D-12E4-096352B9D77B}"/>
              </a:ext>
            </a:extLst>
          </p:cNvPr>
          <p:cNvSpPr txBox="1"/>
          <p:nvPr/>
        </p:nvSpPr>
        <p:spPr>
          <a:xfrm>
            <a:off x="508635" y="2008034"/>
            <a:ext cx="52006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100" b="0" i="0" u="none">
                <a:solidFill>
                  <a:srgbClr val="06B6D4"/>
                </a:solidFill>
                <a:latin typeface="Inter SemiBold"/>
              </a:rPr>
              <a:t>Deterministic Novelty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F11E263-FFAF-ADA1-79DE-E3F4EB05CACC}"/>
              </a:ext>
            </a:extLst>
          </p:cNvPr>
          <p:cNvSpPr txBox="1"/>
          <p:nvPr/>
        </p:nvSpPr>
        <p:spPr>
          <a:xfrm>
            <a:off x="508635" y="2474759"/>
            <a:ext cx="49530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0" i="0" u="none" dirty="0">
                <a:latin typeface="Inter"/>
              </a:rPr>
              <a:t>Our core IP is a strict source-filtering RAG pipeline explicitly tailored for industrial engineering data.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C196A0F-37EB-47EB-8899-919BA0579F44}"/>
              </a:ext>
            </a:extLst>
          </p:cNvPr>
          <p:cNvSpPr txBox="1"/>
          <p:nvPr/>
        </p:nvSpPr>
        <p:spPr>
          <a:xfrm>
            <a:off x="508635" y="2859762"/>
            <a:ext cx="49530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0" i="0" u="none" dirty="0">
                <a:latin typeface="Inter"/>
              </a:rPr>
              <a:t>It completely prevents AI hallucinations by binding answers strictly to uploaded OEM manuals and guaranteeing no cross-contamination of asset histories (e.g., preventing pump data from mixing with compressor data).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4D515D9-E9C1-496E-7B5D-1EDB4A5707A9}"/>
              </a:ext>
            </a:extLst>
          </p:cNvPr>
          <p:cNvSpPr txBox="1"/>
          <p:nvPr/>
        </p:nvSpPr>
        <p:spPr>
          <a:xfrm>
            <a:off x="447675" y="3532890"/>
            <a:ext cx="52006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100" b="0" i="0" u="none" dirty="0">
                <a:solidFill>
                  <a:srgbClr val="06B6D4"/>
                </a:solidFill>
                <a:latin typeface="Inter SemiBold"/>
              </a:rPr>
              <a:t>Trade Secret Protection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E0B8B2D-3120-403D-9454-CA47C42729CF}"/>
              </a:ext>
            </a:extLst>
          </p:cNvPr>
          <p:cNvSpPr txBox="1"/>
          <p:nvPr/>
        </p:nvSpPr>
        <p:spPr>
          <a:xfrm>
            <a:off x="447675" y="3917893"/>
            <a:ext cx="49530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0" i="0" u="none" dirty="0">
                <a:latin typeface="Inter"/>
              </a:rPr>
              <a:t>We are currently maintaining this architecture as a proprietary trade secret rather than pursuing a patent.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8D8BA1F-4389-275C-FB43-4926A263F8BA}"/>
              </a:ext>
            </a:extLst>
          </p:cNvPr>
          <p:cNvSpPr txBox="1"/>
          <p:nvPr/>
        </p:nvSpPr>
        <p:spPr>
          <a:xfrm>
            <a:off x="447675" y="4287225"/>
            <a:ext cx="49530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0" i="0" u="none" dirty="0">
                <a:latin typeface="Inter"/>
              </a:rPr>
              <a:t>Our unique competitive moat lies within our highly specialized, domain-specific document chunking algorithm designed for mechanical schematics and logs.</a:t>
            </a:r>
          </a:p>
        </p:txBody>
      </p:sp>
      <p:pic>
        <p:nvPicPr>
          <p:cNvPr id="9" name="Image 0">
            <a:extLst>
              <a:ext uri="{FF2B5EF4-FFF2-40B4-BE49-F238E27FC236}">
                <a16:creationId xmlns:a16="http://schemas.microsoft.com/office/drawing/2014/main" id="{FBB9B1E7-CEE4-AA7E-8E85-A0A02DABDA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6134" y="1898666"/>
            <a:ext cx="3169599" cy="17961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517</Words>
  <Application>Microsoft Office PowerPoint</Application>
  <PresentationFormat>On-screen Show (16:9)</PresentationFormat>
  <Paragraphs>50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Inter</vt:lpstr>
      <vt:lpstr>Inter SemiBold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Sanjana</dc:creator>
  <cp:lastModifiedBy>Balavignesh K</cp:lastModifiedBy>
  <cp:revision>4</cp:revision>
  <dcterms:modified xsi:type="dcterms:W3CDTF">2026-08-22T10:20:01Z</dcterms:modified>
</cp:coreProperties>
</file>